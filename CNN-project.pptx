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L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2"/>
    <p:restoredTop sz="94737"/>
  </p:normalViewPr>
  <p:slideViewPr>
    <p:cSldViewPr snapToGrid="0">
      <p:cViewPr varScale="1">
        <p:scale>
          <a:sx n="122" d="100"/>
          <a:sy n="122" d="100"/>
        </p:scale>
        <p:origin x="2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3/8/23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0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9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0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8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53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0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2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5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13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3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45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62C58-9FB3-FC5F-FDE0-BC90815D4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2033" y="1247140"/>
            <a:ext cx="5657899" cy="3450844"/>
          </a:xfrm>
        </p:spPr>
        <p:txBody>
          <a:bodyPr>
            <a:normAutofit/>
          </a:bodyPr>
          <a:lstStyle/>
          <a:p>
            <a:r>
              <a:rPr lang="en-US" dirty="0"/>
              <a:t>Convolutional Neural Network </a:t>
            </a:r>
            <a:endParaRPr lang="en-L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0821F-6ACF-B073-B1E3-51DC2432D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2033" y="4818126"/>
            <a:ext cx="5657899" cy="1268984"/>
          </a:xfrm>
        </p:spPr>
        <p:txBody>
          <a:bodyPr>
            <a:normAutofit/>
          </a:bodyPr>
          <a:lstStyle/>
          <a:p>
            <a:r>
              <a:rPr lang="en-LB" dirty="0"/>
              <a:t>Creating a Deep learning Algorithm to analyze imagery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B3DC3-EC8B-52FF-6B65-0CA975EB0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05" r="26220" b="2"/>
          <a:stretch/>
        </p:blipFill>
        <p:spPr>
          <a:xfrm>
            <a:off x="20" y="10"/>
            <a:ext cx="5104813" cy="6857990"/>
          </a:xfrm>
          <a:custGeom>
            <a:avLst/>
            <a:gdLst/>
            <a:ahLst/>
            <a:cxnLst/>
            <a:rect l="l" t="t" r="r" b="b"/>
            <a:pathLst>
              <a:path w="5104833" h="6858000">
                <a:moveTo>
                  <a:pt x="0" y="0"/>
                </a:moveTo>
                <a:lnTo>
                  <a:pt x="3707702" y="0"/>
                </a:lnTo>
                <a:lnTo>
                  <a:pt x="3707702" y="1375489"/>
                </a:lnTo>
                <a:lnTo>
                  <a:pt x="5104833" y="1375489"/>
                </a:lnTo>
                <a:lnTo>
                  <a:pt x="510483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4134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4134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99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CD92F-2479-751F-E256-5F8CEE7F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Introduction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F6612-3EA8-FF90-4604-E358DA74A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LB" dirty="0"/>
              <a:t>We would like to develop a conventional neural network model for the CIFAR-10 object classification dataset. </a:t>
            </a:r>
          </a:p>
          <a:p>
            <a:r>
              <a:rPr lang="en-US" dirty="0"/>
              <a:t>The dataset is comprised of 60,000 32×32 pixel color photographs of objects from 10 classes, such as frogs, birds, cats, ships, etc. The class labels and their standard associated integer values are listed below.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 Neue" panose="02000503000000020004" pitchFamily="2" charset="0"/>
              </a:rPr>
              <a:t>0: airplane 1: automobile 2: bird 3: cat 4: deer 5: dog 6: frog 7: horse 8: ship 9: truck</a:t>
            </a:r>
          </a:p>
          <a:p>
            <a:endParaRPr lang="en-LB" dirty="0"/>
          </a:p>
          <a:p>
            <a:endParaRPr lang="en-LB" dirty="0"/>
          </a:p>
          <a:p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206118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858B6-88B6-C9F9-4FDE-2F34CA08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>
            <a:normAutofit/>
          </a:bodyPr>
          <a:lstStyle/>
          <a:p>
            <a:endParaRPr lang="en-L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62D1-0058-DCF2-8696-D8FFC3CA2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499" y="2160588"/>
            <a:ext cx="5973763" cy="3925887"/>
          </a:xfrm>
        </p:spPr>
        <p:txBody>
          <a:bodyPr>
            <a:normAutofit fontScale="92500" lnSpcReduction="10000"/>
          </a:bodyPr>
          <a:lstStyle/>
          <a:p>
            <a:pPr fontAlgn="base"/>
            <a:endParaRPr lang="en-US" b="0" i="0" u="none" strike="noStrike" dirty="0">
              <a:effectLst/>
              <a:latin typeface="Helvetica Neue" panose="02000503000000020004" pitchFamily="2" charset="0"/>
            </a:endParaRPr>
          </a:p>
          <a:p>
            <a:pPr fontAlgn="base"/>
            <a:r>
              <a:rPr lang="en-US" dirty="0">
                <a:latin typeface="Helvetica Neue" panose="02000503000000020004" pitchFamily="2" charset="0"/>
              </a:rPr>
              <a:t>We know that the images are all pre-segmented (e.g. each image contains a single object), that the images all have the same square size of 32×32 pixels, and that the images are color. Therefore, we can load the images and use them for modeling almost immediately.</a:t>
            </a:r>
          </a:p>
          <a:p>
            <a:pPr fontAlgn="base"/>
            <a:r>
              <a:rPr lang="en-US" b="0" i="0" u="none" strike="noStrike" dirty="0">
                <a:effectLst/>
                <a:latin typeface="Helvetica Neue" panose="02000503000000020004" pitchFamily="2" charset="0"/>
              </a:rPr>
              <a:t>After plotting 25 images, we can see that the images are very small and have a low resolution which might lead to low performance of the algorithm.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0E3E7B7-4C59-267A-C4C1-A3F123A367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74" r="1" b="1"/>
          <a:stretch/>
        </p:blipFill>
        <p:spPr>
          <a:xfrm>
            <a:off x="8014961" y="2238233"/>
            <a:ext cx="3611880" cy="361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0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C1F8-E670-34FE-C011-62D8EA67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Approach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8BE5A-603E-81A6-7779-5CDF36D4C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</a:t>
            </a:r>
            <a:r>
              <a:rPr lang="en-LB" dirty="0"/>
              <a:t>e ran 5 different CNN models with different configurations. </a:t>
            </a:r>
            <a:r>
              <a:rPr lang="en-US" dirty="0"/>
              <a:t>O</a:t>
            </a:r>
            <a:r>
              <a:rPr lang="en-LB" dirty="0"/>
              <a:t>ur aim is to obtain the best model based on the following criteria: </a:t>
            </a:r>
          </a:p>
          <a:p>
            <a:r>
              <a:rPr lang="en-LB" dirty="0"/>
              <a:t>Training Accuracy</a:t>
            </a:r>
          </a:p>
          <a:p>
            <a:r>
              <a:rPr lang="en-LB" dirty="0"/>
              <a:t>T</a:t>
            </a:r>
            <a:r>
              <a:rPr lang="en-US" dirty="0"/>
              <a:t>e</a:t>
            </a:r>
            <a:r>
              <a:rPr lang="en-LB" dirty="0"/>
              <a:t>st accuracy</a:t>
            </a:r>
          </a:p>
          <a:p>
            <a:r>
              <a:rPr lang="en-US" dirty="0"/>
              <a:t>P</a:t>
            </a:r>
            <a:r>
              <a:rPr lang="en-LB" dirty="0"/>
              <a:t>recision</a:t>
            </a:r>
          </a:p>
          <a:p>
            <a:r>
              <a:rPr lang="en-US" dirty="0"/>
              <a:t>R</a:t>
            </a:r>
            <a:r>
              <a:rPr lang="en-LB" dirty="0"/>
              <a:t>ecall</a:t>
            </a:r>
          </a:p>
          <a:p>
            <a:r>
              <a:rPr lang="en-LB" dirty="0"/>
              <a:t>f1 score</a:t>
            </a:r>
          </a:p>
          <a:p>
            <a:r>
              <a:rPr lang="en-LB" dirty="0"/>
              <a:t>Confusion matrix </a:t>
            </a:r>
          </a:p>
          <a:p>
            <a:r>
              <a:rPr lang="en-LB" dirty="0"/>
              <a:t>Accuracy and loss per epochs </a:t>
            </a:r>
          </a:p>
          <a:p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103446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3EDF-0C9B-7F75-9066-CC5FE85D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CNN model Configurations: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0A3E5-B7DC-6FCB-3FBB-E98C0565A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B" dirty="0"/>
              <a:t>Configuration 1: 1 layer, 32 neurons</a:t>
            </a:r>
          </a:p>
          <a:p>
            <a:r>
              <a:rPr lang="en-LB" dirty="0"/>
              <a:t>Configuration 2: 1 layer. 128 neurons </a:t>
            </a:r>
          </a:p>
          <a:p>
            <a:r>
              <a:rPr lang="en-LB" dirty="0"/>
              <a:t>Configuration 3: 2 layers. 32 neurons each </a:t>
            </a:r>
          </a:p>
          <a:p>
            <a:r>
              <a:rPr lang="en-LB" dirty="0"/>
              <a:t>Configuration 4: 2 layers, 32 neurons in layer 1 and 64 in layer 2</a:t>
            </a:r>
          </a:p>
          <a:p>
            <a:r>
              <a:rPr lang="en-LB" dirty="0"/>
              <a:t>Configuration 5: 2 layers, 64 neurons in layer 1 and 128 in layer 2</a:t>
            </a:r>
          </a:p>
        </p:txBody>
      </p:sp>
    </p:spTree>
    <p:extLst>
      <p:ext uri="{BB962C8B-B14F-4D97-AF65-F5344CB8AC3E}">
        <p14:creationId xmlns:p14="http://schemas.microsoft.com/office/powerpoint/2010/main" val="262258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D6F0-6548-C423-563B-B27D5264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Results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1C34628-A177-9550-8A3A-FAE1A08523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527949"/>
              </p:ext>
            </p:extLst>
          </p:nvPr>
        </p:nvGraphicFramePr>
        <p:xfrm>
          <a:off x="1587500" y="2160587"/>
          <a:ext cx="9486900" cy="36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247405764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54649973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805539473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1478750548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826217218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945460732"/>
                    </a:ext>
                  </a:extLst>
                </a:gridCol>
              </a:tblGrid>
              <a:tr h="442343">
                <a:tc>
                  <a:txBody>
                    <a:bodyPr/>
                    <a:lstStyle/>
                    <a:p>
                      <a:r>
                        <a:rPr lang="en-LB" dirty="0"/>
                        <a:t>Model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030487"/>
                  </a:ext>
                </a:extLst>
              </a:tr>
              <a:tr h="442343">
                <a:tc>
                  <a:txBody>
                    <a:bodyPr/>
                    <a:lstStyle/>
                    <a:p>
                      <a:r>
                        <a:rPr lang="en-LB" dirty="0"/>
                        <a:t>Training 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80.58%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79.28%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92.3%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496629"/>
                  </a:ext>
                </a:extLst>
              </a:tr>
              <a:tr h="442343">
                <a:tc>
                  <a:txBody>
                    <a:bodyPr/>
                    <a:lstStyle/>
                    <a:p>
                      <a:r>
                        <a:rPr lang="en-LB" dirty="0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71.2%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973818"/>
                  </a:ext>
                </a:extLst>
              </a:tr>
              <a:tr h="442343">
                <a:tc>
                  <a:txBody>
                    <a:bodyPr/>
                    <a:lstStyle/>
                    <a:p>
                      <a:r>
                        <a:rPr lang="en-LB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74.1%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74.58%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000095"/>
                  </a:ext>
                </a:extLst>
              </a:tr>
              <a:tr h="442343">
                <a:tc>
                  <a:txBody>
                    <a:bodyPr/>
                    <a:lstStyle/>
                    <a:p>
                      <a:r>
                        <a:rPr lang="en-LB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68.71%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424965"/>
                  </a:ext>
                </a:extLst>
              </a:tr>
              <a:tr h="442343">
                <a:tc>
                  <a:txBody>
                    <a:bodyPr/>
                    <a:lstStyle/>
                    <a:p>
                      <a:r>
                        <a:rPr lang="en-LB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65.6%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LB" dirty="0"/>
                        <a:t>71.5%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266576"/>
                  </a:ext>
                </a:extLst>
              </a:tr>
              <a:tr h="442343">
                <a:tc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L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571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52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D5B7-1C36-0BEA-CDD9-F7B8ABFB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B7CC2-5797-B935-8709-9AF3BBD18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B" dirty="0"/>
              <a:t>Looking at the results we can see that </a:t>
            </a:r>
            <a:r>
              <a:rPr lang="en-LB" b="1" dirty="0"/>
              <a:t>configuration 5 </a:t>
            </a:r>
            <a:r>
              <a:rPr lang="en-LB" dirty="0"/>
              <a:t>has the best scores especially when it comes to test accuracy. The model reaches a 92% accuracy on the training dataset after 6 epochs. This is why we can stop at epoch 3 since it is the closest to the test accuracy ( 74% and 71%)</a:t>
            </a:r>
          </a:p>
        </p:txBody>
      </p:sp>
    </p:spTree>
    <p:extLst>
      <p:ext uri="{BB962C8B-B14F-4D97-AF65-F5344CB8AC3E}">
        <p14:creationId xmlns:p14="http://schemas.microsoft.com/office/powerpoint/2010/main" val="2124285741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AnalogousFromLightSeedLeftStep">
      <a:dk1>
        <a:srgbClr val="000000"/>
      </a:dk1>
      <a:lt1>
        <a:srgbClr val="FFFFFF"/>
      </a:lt1>
      <a:dk2>
        <a:srgbClr val="242841"/>
      </a:dk2>
      <a:lt2>
        <a:srgbClr val="E8E7E2"/>
      </a:lt2>
      <a:accent1>
        <a:srgbClr val="8F97CE"/>
      </a:accent1>
      <a:accent2>
        <a:srgbClr val="76A0C3"/>
      </a:accent2>
      <a:accent3>
        <a:srgbClr val="7AAEAF"/>
      </a:accent3>
      <a:accent4>
        <a:srgbClr val="6BB196"/>
      </a:accent4>
      <a:accent5>
        <a:srgbClr val="77AF82"/>
      </a:accent5>
      <a:accent6>
        <a:srgbClr val="7AB16B"/>
      </a:accent6>
      <a:hlink>
        <a:srgbClr val="8B8354"/>
      </a:hlink>
      <a:folHlink>
        <a:srgbClr val="7F7F7F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2640</TotalTime>
  <Words>421</Words>
  <Application>Microsoft Macintosh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Helvetica Neue</vt:lpstr>
      <vt:lpstr>Neue Haas Grotesk Text Pro</vt:lpstr>
      <vt:lpstr>InterweaveVTI</vt:lpstr>
      <vt:lpstr>Convolutional Neural Network </vt:lpstr>
      <vt:lpstr>Introduction  </vt:lpstr>
      <vt:lpstr>PowerPoint Presentation</vt:lpstr>
      <vt:lpstr>Approach </vt:lpstr>
      <vt:lpstr>CNN model Configurations: 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 </dc:title>
  <dc:creator>BARAKAT Mohamad</dc:creator>
  <cp:lastModifiedBy>BARAKAT Mohamad</cp:lastModifiedBy>
  <cp:revision>4</cp:revision>
  <dcterms:created xsi:type="dcterms:W3CDTF">2023-02-22T14:44:40Z</dcterms:created>
  <dcterms:modified xsi:type="dcterms:W3CDTF">2023-03-08T15:35:21Z</dcterms:modified>
</cp:coreProperties>
</file>